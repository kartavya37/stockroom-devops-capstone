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6a1729f4-cefd-29f3-f2aa-7df637d755da}">
          <p14:sldIdLst>
            <p14:sldId id="256"/>
            <p14:sldId id="257"/>
            <p14:sldId id="258"/>
          </p14:sldIdLst>
        </p14:section>
        <p14:section name="How it works" id="{1bd4f0f3-0401-84cc-2f32-7d69b17fb1e2}">
          <p14:sldIdLst>
            <p14:sldId id="259"/>
            <p14:sldId id="260"/>
            <p14:sldId id="261"/>
          </p14:sldIdLst>
        </p14:section>
        <p14:section name="Platform" id="{9e44ab82-699e-d3dc-f30e-b4643aac82b4}">
          <p14:sldIdLst>
            <p14:sldId id="262"/>
            <p14:sldId id="263"/>
            <p14:sldId id="264"/>
          </p14:sldIdLst>
        </p14:section>
        <p14:section name="Conclusion" id="{cb738872-1c43-1df9-da9a-03afaec2d730}">
          <p14:sldIdLst>
            <p14:sldId id="265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with name and roll number. One sentence: StockRoom is a stock control app, and the project is the DevOps chain around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what the app does: add an item, change its quantity, see the low-stock flag. Mention the 6 item endpoints plus health, ready and metrics.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layers top to bottom. Every tool has one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Follow one change from left to right: push, pipeline, image in GHCR, Argo CD sees the new tag, new Pods. Prometheus scrapes the backend. Terraform is a separate lane for AWS.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Two gates: tests and Trivy. Nothing reaches the registry without passing both. Job 3 makes Git the deployment trigger.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Our first scan failed both images. Explain CVE-2026-13221: present but not reachable, fixed anyway because Trivy blocks what is present. A clean scan means no known fixable CVE, not 'secure'.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at the two public subnets the rubric asks for, the private subnets for the nodes, and the node group. Explain the EKS version choice and the destroy step.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chart is the package; Argo CD is the operator. Mention that helm list is empty under Argo CD because Argo CD applies the rendered manifests itself.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Targets page with the backend UP, then the Grafana dashboard with live traffic. The dashboard ships inside the Helm chart as a ConfigMap.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four learnings, then say: now I will show everything live.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Title">
    <p:bg>
      <p:bgPr>
        <a:solidFill>
          <a:srgbClr val="1B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4"/>
                </a:solidFill>
              </a:rPr>
              <a:t>StockRoom  ·  Kartavya Panchal  ·  24bcs10343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 Content">
    <p:bg>
      <p:bgPr>
        <a:solidFill>
          <a:srgbClr val="1B2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 txBox="1"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5"/>
                </a:solidFill>
              </a:rPr>
              <a:t>StockRoom  ·  Kartavya Panchal  ·  24bcs10343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3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image" Target="../media/image-3-7.png"/><Relationship Id="rId8" Type="http://schemas.openxmlformats.org/officeDocument/2006/relationships/image" Target="../media/image-3-8.png"/><Relationship Id="rId9" Type="http://schemas.openxmlformats.org/officeDocument/2006/relationships/slideLayout" Target="../slideLayouts/slideLayout3.xml"/><Relationship Id="rId10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3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325880"/>
            <a:ext cx="80467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StockRoom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468880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accent1"/>
                </a:solidFill>
              </a:rPr>
              <a:t>A stock control app, shipped through a full DevOps pipeline</a:t>
            </a:r>
            <a:endParaRPr lang="en-US" sz="2000" dirty="0"/>
          </a:p>
        </p:txBody>
      </p:sp>
      <p:sp>
        <p:nvSpPr>
          <p:cNvPr id="4" name="Title circle"/>
          <p:cNvSpPr/>
          <p:nvPr/>
        </p:nvSpPr>
        <p:spPr>
          <a:xfrm>
            <a:off x="548640" y="502920"/>
            <a:ext cx="685800" cy="68580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Title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667512"/>
            <a:ext cx="356616" cy="356616"/>
          </a:xfrm>
          <a:prstGeom prst="rect">
            <a:avLst/>
          </a:prstGeom>
        </p:spPr>
      </p:pic>
      <p:sp>
        <p:nvSpPr>
          <p:cNvPr id="6" name="Author"/>
          <p:cNvSpPr txBox="1"/>
          <p:nvPr/>
        </p:nvSpPr>
        <p:spPr>
          <a:xfrm>
            <a:off x="548640" y="38404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bg2"/>
                </a:solidFill>
              </a:rPr>
              <a:t>Kartavya Panchal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chemeClr val="bg2"/>
                </a:solidFill>
              </a:rPr>
              <a:t>Roll 24bcs10343  ·  DevOps Final Capstone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What I built</a:t>
            </a:r>
            <a:endParaRPr lang="en-US" sz="3000" dirty="0"/>
          </a:p>
        </p:txBody>
      </p:sp>
      <p:sp>
        <p:nvSpPr>
          <p:cNvPr id="3" name="Lead"/>
          <p:cNvSpPr txBox="1"/>
          <p:nvPr/>
        </p:nvSpPr>
        <p:spPr>
          <a:xfrm>
            <a:off x="457200" y="10515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tx2"/>
                </a:solidFill>
              </a:rPr>
              <a:t>A warehouse stock tracker. Small on purpose: the work is in how it is tested, packaged, secured, deployed and watched.</a:t>
            </a:r>
            <a:endParaRPr lang="en-US" sz="1600" dirty="0"/>
          </a:p>
        </p:txBody>
      </p:sp>
      <p:sp>
        <p:nvSpPr>
          <p:cNvPr id="4" name="Feature 1"/>
          <p:cNvSpPr/>
          <p:nvPr/>
        </p:nvSpPr>
        <p:spPr>
          <a:xfrm>
            <a:off x="457200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EF1F3"/>
          </a:solidFill>
          <a:ln/>
        </p:spPr>
      </p:sp>
      <p:sp>
        <p:nvSpPr>
          <p:cNvPr id="5" name="Feature 1 circle"/>
          <p:cNvSpPr/>
          <p:nvPr/>
        </p:nvSpPr>
        <p:spPr>
          <a:xfrm>
            <a:off x="685800" y="1965960"/>
            <a:ext cx="548640" cy="548640"/>
          </a:xfrm>
          <a:prstGeom prst="ellipse">
            <a:avLst/>
          </a:prstGeom>
          <a:solidFill>
            <a:srgbClr val="1B2329"/>
          </a:solidFill>
          <a:ln/>
        </p:spPr>
      </p:sp>
      <p:pic>
        <p:nvPicPr>
          <p:cNvPr id="6" name="Feature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2097634"/>
            <a:ext cx="285293" cy="285293"/>
          </a:xfrm>
          <a:prstGeom prst="rect">
            <a:avLst/>
          </a:prstGeom>
        </p:spPr>
      </p:pic>
      <p:sp>
        <p:nvSpPr>
          <p:cNvPr id="7" name="Feature 1 head"/>
          <p:cNvSpPr txBox="1"/>
          <p:nvPr/>
        </p:nvSpPr>
        <p:spPr>
          <a:xfrm>
            <a:off x="685800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Track items</a:t>
            </a:r>
            <a:endParaRPr lang="en-US" sz="1800" dirty="0"/>
          </a:p>
        </p:txBody>
      </p:sp>
      <p:sp>
        <p:nvSpPr>
          <p:cNvPr id="8" name="Feature 1 body"/>
          <p:cNvSpPr txBox="1"/>
          <p:nvPr/>
        </p:nvSpPr>
        <p:spPr>
          <a:xfrm>
            <a:off x="685800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SKU, category, quantity, unit price and a reorder level for every item</a:t>
            </a:r>
            <a:endParaRPr lang="en-US" sz="1300" dirty="0"/>
          </a:p>
        </p:txBody>
      </p:sp>
      <p:sp>
        <p:nvSpPr>
          <p:cNvPr id="9" name="Feature 2"/>
          <p:cNvSpPr/>
          <p:nvPr/>
        </p:nvSpPr>
        <p:spPr>
          <a:xfrm>
            <a:off x="3273552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EF1F3"/>
          </a:solidFill>
          <a:ln/>
        </p:spPr>
      </p:sp>
      <p:sp>
        <p:nvSpPr>
          <p:cNvPr id="10" name="Feature 2 circle"/>
          <p:cNvSpPr/>
          <p:nvPr/>
        </p:nvSpPr>
        <p:spPr>
          <a:xfrm>
            <a:off x="3502152" y="1965960"/>
            <a:ext cx="548640" cy="548640"/>
          </a:xfrm>
          <a:prstGeom prst="ellipse">
            <a:avLst/>
          </a:prstGeom>
          <a:solidFill>
            <a:srgbClr val="1B2329"/>
          </a:solidFill>
          <a:ln/>
        </p:spPr>
      </p:sp>
      <p:pic>
        <p:nvPicPr>
          <p:cNvPr id="11" name="Feature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33826" y="2097634"/>
            <a:ext cx="285293" cy="285293"/>
          </a:xfrm>
          <a:prstGeom prst="rect">
            <a:avLst/>
          </a:prstGeom>
        </p:spPr>
      </p:pic>
      <p:sp>
        <p:nvSpPr>
          <p:cNvPr id="12" name="Feature 2 head"/>
          <p:cNvSpPr txBox="1"/>
          <p:nvPr/>
        </p:nvSpPr>
        <p:spPr>
          <a:xfrm>
            <a:off x="3502152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Flag low stock</a:t>
            </a:r>
            <a:endParaRPr lang="en-US" sz="1800" dirty="0"/>
          </a:p>
        </p:txBody>
      </p:sp>
      <p:sp>
        <p:nvSpPr>
          <p:cNvPr id="13" name="Feature 2 body"/>
          <p:cNvSpPr txBox="1"/>
          <p:nvPr/>
        </p:nvSpPr>
        <p:spPr>
          <a:xfrm>
            <a:off x="3502152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Items at or below the reorder level are marked for a new order</a:t>
            </a:r>
            <a:endParaRPr lang="en-US" sz="1300" dirty="0"/>
          </a:p>
        </p:txBody>
      </p:sp>
      <p:sp>
        <p:nvSpPr>
          <p:cNvPr id="14" name="Feature 3"/>
          <p:cNvSpPr/>
          <p:nvPr/>
        </p:nvSpPr>
        <p:spPr>
          <a:xfrm>
            <a:off x="6089904" y="1783080"/>
            <a:ext cx="2606040" cy="1874520"/>
          </a:xfrm>
          <a:prstGeom prst="roundRect">
            <a:avLst>
              <a:gd name="adj" fmla="val 3902"/>
            </a:avLst>
          </a:prstGeom>
          <a:solidFill>
            <a:srgbClr val="EEF1F3"/>
          </a:solidFill>
          <a:ln/>
        </p:spPr>
      </p:sp>
      <p:sp>
        <p:nvSpPr>
          <p:cNvPr id="15" name="Feature 3 circle"/>
          <p:cNvSpPr/>
          <p:nvPr/>
        </p:nvSpPr>
        <p:spPr>
          <a:xfrm>
            <a:off x="6318504" y="1965960"/>
            <a:ext cx="548640" cy="548640"/>
          </a:xfrm>
          <a:prstGeom prst="ellipse">
            <a:avLst/>
          </a:prstGeom>
          <a:solidFill>
            <a:srgbClr val="1B2329"/>
          </a:solidFill>
          <a:ln/>
        </p:spPr>
      </p:sp>
      <p:pic>
        <p:nvPicPr>
          <p:cNvPr id="16" name="Feature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0178" y="2097634"/>
            <a:ext cx="285293" cy="285293"/>
          </a:xfrm>
          <a:prstGeom prst="rect">
            <a:avLst/>
          </a:prstGeom>
        </p:spPr>
      </p:pic>
      <p:sp>
        <p:nvSpPr>
          <p:cNvPr id="17" name="Feature 3 head"/>
          <p:cNvSpPr txBox="1"/>
          <p:nvPr/>
        </p:nvSpPr>
        <p:spPr>
          <a:xfrm>
            <a:off x="6318504" y="265176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See stock value</a:t>
            </a:r>
            <a:endParaRPr lang="en-US" sz="1800" dirty="0"/>
          </a:p>
        </p:txBody>
      </p:sp>
      <p:sp>
        <p:nvSpPr>
          <p:cNvPr id="18" name="Feature 3 body"/>
          <p:cNvSpPr txBox="1"/>
          <p:nvPr/>
        </p:nvSpPr>
        <p:spPr>
          <a:xfrm>
            <a:off x="6318504" y="29718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Totals for items, units, value and categories from /api/items/stats</a:t>
            </a:r>
            <a:endParaRPr lang="en-US" sz="1300" dirty="0"/>
          </a:p>
        </p:txBody>
      </p:sp>
      <p:sp>
        <p:nvSpPr>
          <p:cNvPr id="19" name="Stat 1"/>
          <p:cNvSpPr txBox="1"/>
          <p:nvPr/>
        </p:nvSpPr>
        <p:spPr>
          <a:xfrm>
            <a:off x="45720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6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REST endpoints</a:t>
            </a:r>
            <a:endParaRPr lang="en-US" sz="2600" dirty="0"/>
          </a:p>
        </p:txBody>
      </p:sp>
      <p:sp>
        <p:nvSpPr>
          <p:cNvPr id="20" name="Stat 2"/>
          <p:cNvSpPr txBox="1"/>
          <p:nvPr/>
        </p:nvSpPr>
        <p:spPr>
          <a:xfrm>
            <a:off x="256032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12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pytest tests</a:t>
            </a:r>
            <a:endParaRPr lang="en-US" sz="2600" dirty="0"/>
          </a:p>
        </p:txBody>
      </p:sp>
      <p:sp>
        <p:nvSpPr>
          <p:cNvPr id="21" name="Stat 3"/>
          <p:cNvSpPr txBox="1"/>
          <p:nvPr/>
        </p:nvSpPr>
        <p:spPr>
          <a:xfrm>
            <a:off x="466344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3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containers</a:t>
            </a:r>
            <a:endParaRPr lang="en-US" sz="2600" dirty="0"/>
          </a:p>
        </p:txBody>
      </p:sp>
      <p:sp>
        <p:nvSpPr>
          <p:cNvPr id="22" name="Stat 4"/>
          <p:cNvSpPr txBox="1"/>
          <p:nvPr/>
        </p:nvSpPr>
        <p:spPr>
          <a:xfrm>
            <a:off x="6766560" y="3840480"/>
            <a:ext cx="1920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chemeClr val="accent2"/>
                </a:solidFill>
              </a:rPr>
              <a:t>2</a:t>
            </a:r>
            <a:endParaRPr lang="en-US" sz="26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replicas per tier</a:t>
            </a:r>
            <a:endParaRPr lang="en-US" sz="2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Tech stack</a:t>
            </a:r>
            <a:endParaRPr lang="en-US" sz="3000" dirty="0"/>
          </a:p>
        </p:txBody>
      </p:sp>
      <p:sp>
        <p:nvSpPr>
          <p:cNvPr id="3" name="Stack 1 circle"/>
          <p:cNvSpPr/>
          <p:nvPr/>
        </p:nvSpPr>
        <p:spPr>
          <a:xfrm>
            <a:off x="457200" y="109728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4" name="Stack 1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263" y="1233343"/>
            <a:ext cx="294803" cy="294803"/>
          </a:xfrm>
          <a:prstGeom prst="rect">
            <a:avLst/>
          </a:prstGeom>
        </p:spPr>
      </p:pic>
      <p:sp>
        <p:nvSpPr>
          <p:cNvPr id="5" name="Stack 1 text"/>
          <p:cNvSpPr txBox="1"/>
          <p:nvPr/>
        </p:nvSpPr>
        <p:spPr>
          <a:xfrm>
            <a:off x="1188720" y="10789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Application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FastAPI · SQLAlchemy · Alembic · PostgreSQL 16 · React 18 + Vite</a:t>
            </a:r>
            <a:endParaRPr lang="en-US" sz="1500" dirty="0"/>
          </a:p>
        </p:txBody>
      </p:sp>
      <p:sp>
        <p:nvSpPr>
          <p:cNvPr id="6" name="Stack 2 circle"/>
          <p:cNvSpPr/>
          <p:nvPr/>
        </p:nvSpPr>
        <p:spPr>
          <a:xfrm>
            <a:off x="4663440" y="109728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7" name="Stack 2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503" y="1233343"/>
            <a:ext cx="294803" cy="294803"/>
          </a:xfrm>
          <a:prstGeom prst="rect">
            <a:avLst/>
          </a:prstGeom>
        </p:spPr>
      </p:pic>
      <p:sp>
        <p:nvSpPr>
          <p:cNvPr id="8" name="Stack 2 text"/>
          <p:cNvSpPr txBox="1"/>
          <p:nvPr/>
        </p:nvSpPr>
        <p:spPr>
          <a:xfrm>
            <a:off x="5394960" y="107899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Testing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pytest with an in-memory SQLite test database</a:t>
            </a:r>
            <a:endParaRPr lang="en-US" sz="1500" dirty="0"/>
          </a:p>
        </p:txBody>
      </p:sp>
      <p:sp>
        <p:nvSpPr>
          <p:cNvPr id="9" name="Stack 3 circle"/>
          <p:cNvSpPr/>
          <p:nvPr/>
        </p:nvSpPr>
        <p:spPr>
          <a:xfrm>
            <a:off x="457200" y="196596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10" name="Stack 3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3263" y="2102023"/>
            <a:ext cx="294803" cy="294803"/>
          </a:xfrm>
          <a:prstGeom prst="rect">
            <a:avLst/>
          </a:prstGeom>
        </p:spPr>
      </p:pic>
      <p:sp>
        <p:nvSpPr>
          <p:cNvPr id="11" name="Stack 3 text"/>
          <p:cNvSpPr txBox="1"/>
          <p:nvPr/>
        </p:nvSpPr>
        <p:spPr>
          <a:xfrm>
            <a:off x="1188720" y="19476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Containers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Docker multi-stage builds, non-root users, Docker Compose</a:t>
            </a:r>
            <a:endParaRPr lang="en-US" sz="1500" dirty="0"/>
          </a:p>
        </p:txBody>
      </p:sp>
      <p:sp>
        <p:nvSpPr>
          <p:cNvPr id="12" name="Stack 4 circle"/>
          <p:cNvSpPr/>
          <p:nvPr/>
        </p:nvSpPr>
        <p:spPr>
          <a:xfrm>
            <a:off x="4663440" y="196596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13" name="Stack 4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99503" y="2102023"/>
            <a:ext cx="294803" cy="294803"/>
          </a:xfrm>
          <a:prstGeom prst="rect">
            <a:avLst/>
          </a:prstGeom>
        </p:spPr>
      </p:pic>
      <p:sp>
        <p:nvSpPr>
          <p:cNvPr id="14" name="Stack 4 text"/>
          <p:cNvSpPr txBox="1"/>
          <p:nvPr/>
        </p:nvSpPr>
        <p:spPr>
          <a:xfrm>
            <a:off x="5394960" y="194767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CI/CD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GitHub Actions · GitHub Container Registry · SHA tags</a:t>
            </a:r>
            <a:endParaRPr lang="en-US" sz="1500" dirty="0"/>
          </a:p>
        </p:txBody>
      </p:sp>
      <p:sp>
        <p:nvSpPr>
          <p:cNvPr id="15" name="Stack 5 circle"/>
          <p:cNvSpPr/>
          <p:nvPr/>
        </p:nvSpPr>
        <p:spPr>
          <a:xfrm>
            <a:off x="457200" y="283464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16" name="Stack 5 icon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3263" y="2970703"/>
            <a:ext cx="294803" cy="294803"/>
          </a:xfrm>
          <a:prstGeom prst="rect">
            <a:avLst/>
          </a:prstGeom>
        </p:spPr>
      </p:pic>
      <p:sp>
        <p:nvSpPr>
          <p:cNvPr id="17" name="Stack 5 text"/>
          <p:cNvSpPr txBox="1"/>
          <p:nvPr/>
        </p:nvSpPr>
        <p:spPr>
          <a:xfrm>
            <a:off x="1188720" y="28163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Security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Trivy 0.75 gate on fixable HIGH and CRITICAL CVEs</a:t>
            </a:r>
            <a:endParaRPr lang="en-US" sz="1500" dirty="0"/>
          </a:p>
        </p:txBody>
      </p:sp>
      <p:sp>
        <p:nvSpPr>
          <p:cNvPr id="18" name="Stack 6 circle"/>
          <p:cNvSpPr/>
          <p:nvPr/>
        </p:nvSpPr>
        <p:spPr>
          <a:xfrm>
            <a:off x="4663440" y="283464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19" name="Stack 6 icon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99503" y="2970703"/>
            <a:ext cx="294803" cy="294803"/>
          </a:xfrm>
          <a:prstGeom prst="rect">
            <a:avLst/>
          </a:prstGeom>
        </p:spPr>
      </p:pic>
      <p:sp>
        <p:nvSpPr>
          <p:cNvPr id="20" name="Stack 6 text"/>
          <p:cNvSpPr txBox="1"/>
          <p:nvPr/>
        </p:nvSpPr>
        <p:spPr>
          <a:xfrm>
            <a:off x="5394960" y="281635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Infrastructure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Terraform · AWS VPC · Amazon EKS 1.36</a:t>
            </a:r>
            <a:endParaRPr lang="en-US" sz="1500" dirty="0"/>
          </a:p>
        </p:txBody>
      </p:sp>
      <p:sp>
        <p:nvSpPr>
          <p:cNvPr id="21" name="Stack 7 circle"/>
          <p:cNvSpPr/>
          <p:nvPr/>
        </p:nvSpPr>
        <p:spPr>
          <a:xfrm>
            <a:off x="457200" y="370332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22" name="Stack 7 icon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93263" y="3839383"/>
            <a:ext cx="294803" cy="294803"/>
          </a:xfrm>
          <a:prstGeom prst="rect">
            <a:avLst/>
          </a:prstGeom>
        </p:spPr>
      </p:pic>
      <p:sp>
        <p:nvSpPr>
          <p:cNvPr id="23" name="Stack 7 text"/>
          <p:cNvSpPr txBox="1"/>
          <p:nvPr/>
        </p:nvSpPr>
        <p:spPr>
          <a:xfrm>
            <a:off x="1188720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Kubernetes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Helm · ingress-nginx · Argo CD (GitOps) · Minikube</a:t>
            </a:r>
            <a:endParaRPr lang="en-US" sz="1500" dirty="0"/>
          </a:p>
        </p:txBody>
      </p:sp>
      <p:sp>
        <p:nvSpPr>
          <p:cNvPr id="24" name="Stack 8 circle"/>
          <p:cNvSpPr/>
          <p:nvPr/>
        </p:nvSpPr>
        <p:spPr>
          <a:xfrm>
            <a:off x="4663440" y="3703320"/>
            <a:ext cx="566928" cy="566928"/>
          </a:xfrm>
          <a:prstGeom prst="ellipse">
            <a:avLst/>
          </a:prstGeom>
          <a:solidFill>
            <a:srgbClr val="EEF1F3"/>
          </a:solidFill>
          <a:ln/>
        </p:spPr>
      </p:sp>
      <p:pic>
        <p:nvPicPr>
          <p:cNvPr id="25" name="Stack 8 icon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799503" y="3839383"/>
            <a:ext cx="294803" cy="294803"/>
          </a:xfrm>
          <a:prstGeom prst="rect">
            <a:avLst/>
          </a:prstGeom>
        </p:spPr>
      </p:pic>
      <p:sp>
        <p:nvSpPr>
          <p:cNvPr id="26" name="Stack 8 text"/>
          <p:cNvSpPr txBox="1"/>
          <p:nvPr/>
        </p:nvSpPr>
        <p:spPr>
          <a:xfrm>
            <a:off x="5394960" y="3685032"/>
            <a:ext cx="3291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Observability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kube-prometheus-stack: Prometheus + Grafana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Architecture</a:t>
            </a:r>
            <a:endParaRPr lang="en-US" sz="3000" dirty="0"/>
          </a:p>
        </p:txBody>
      </p:sp>
      <p:sp>
        <p:nvSpPr>
          <p:cNvPr id="3" name="Dev"/>
          <p:cNvSpPr/>
          <p:nvPr/>
        </p:nvSpPr>
        <p:spPr>
          <a:xfrm>
            <a:off x="457200" y="11430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EF1F3"/>
          </a:solidFill>
          <a:ln/>
        </p:spPr>
      </p:sp>
      <p:sp>
        <p:nvSpPr>
          <p:cNvPr id="4" name="Dev label"/>
          <p:cNvSpPr txBox="1"/>
          <p:nvPr/>
        </p:nvSpPr>
        <p:spPr>
          <a:xfrm>
            <a:off x="530352" y="114300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Developer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git push</a:t>
            </a:r>
            <a:endParaRPr lang="en-US" sz="1300" dirty="0"/>
          </a:p>
        </p:txBody>
      </p:sp>
      <p:sp>
        <p:nvSpPr>
          <p:cNvPr id="5" name="GitHub"/>
          <p:cNvSpPr/>
          <p:nvPr/>
        </p:nvSpPr>
        <p:spPr>
          <a:xfrm>
            <a:off x="2057400" y="11430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EF1F3"/>
          </a:solidFill>
          <a:ln/>
        </p:spPr>
      </p:sp>
      <p:sp>
        <p:nvSpPr>
          <p:cNvPr id="6" name="GitHub label"/>
          <p:cNvSpPr txBox="1"/>
          <p:nvPr/>
        </p:nvSpPr>
        <p:spPr>
          <a:xfrm>
            <a:off x="2130552" y="114300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GitHub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main branch</a:t>
            </a:r>
            <a:endParaRPr lang="en-US" sz="1300" dirty="0"/>
          </a:p>
        </p:txBody>
      </p:sp>
      <p:sp>
        <p:nvSpPr>
          <p:cNvPr id="7" name="Actions"/>
          <p:cNvSpPr/>
          <p:nvPr/>
        </p:nvSpPr>
        <p:spPr>
          <a:xfrm>
            <a:off x="3657600" y="1143000"/>
            <a:ext cx="1737360" cy="685800"/>
          </a:xfrm>
          <a:prstGeom prst="roundRect">
            <a:avLst>
              <a:gd name="adj" fmla="val 10667"/>
            </a:avLst>
          </a:prstGeom>
          <a:solidFill>
            <a:srgbClr val="1B2329"/>
          </a:solidFill>
          <a:ln/>
        </p:spPr>
      </p:sp>
      <p:sp>
        <p:nvSpPr>
          <p:cNvPr id="8" name="Actions label"/>
          <p:cNvSpPr txBox="1"/>
          <p:nvPr/>
        </p:nvSpPr>
        <p:spPr>
          <a:xfrm>
            <a:off x="3730752" y="1143000"/>
            <a:ext cx="159105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GitHub Actions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test → scan → push</a:t>
            </a:r>
            <a:endParaRPr lang="en-US" sz="1300" dirty="0"/>
          </a:p>
        </p:txBody>
      </p:sp>
      <p:sp>
        <p:nvSpPr>
          <p:cNvPr id="9" name="GHCR"/>
          <p:cNvSpPr/>
          <p:nvPr/>
        </p:nvSpPr>
        <p:spPr>
          <a:xfrm>
            <a:off x="5760720" y="1143000"/>
            <a:ext cx="1234440" cy="685800"/>
          </a:xfrm>
          <a:prstGeom prst="roundRect">
            <a:avLst>
              <a:gd name="adj" fmla="val 10667"/>
            </a:avLst>
          </a:prstGeom>
          <a:solidFill>
            <a:srgbClr val="EEF1F3"/>
          </a:solidFill>
          <a:ln/>
        </p:spPr>
      </p:sp>
      <p:sp>
        <p:nvSpPr>
          <p:cNvPr id="10" name="GHCR label"/>
          <p:cNvSpPr txBox="1"/>
          <p:nvPr/>
        </p:nvSpPr>
        <p:spPr>
          <a:xfrm>
            <a:off x="5833872" y="1143000"/>
            <a:ext cx="10881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GHCR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image:SHA</a:t>
            </a:r>
            <a:endParaRPr lang="en-US" sz="1300" dirty="0"/>
          </a:p>
        </p:txBody>
      </p:sp>
      <p:sp>
        <p:nvSpPr>
          <p:cNvPr id="11" name="Argo"/>
          <p:cNvSpPr/>
          <p:nvPr/>
        </p:nvSpPr>
        <p:spPr>
          <a:xfrm>
            <a:off x="7360920" y="1143000"/>
            <a:ext cx="1325880" cy="685800"/>
          </a:xfrm>
          <a:prstGeom prst="roundRect">
            <a:avLst>
              <a:gd name="adj" fmla="val 10667"/>
            </a:avLst>
          </a:prstGeom>
          <a:solidFill>
            <a:srgbClr val="F2A93B"/>
          </a:solidFill>
          <a:ln/>
        </p:spPr>
      </p:sp>
      <p:sp>
        <p:nvSpPr>
          <p:cNvPr id="12" name="Argo label"/>
          <p:cNvSpPr txBox="1"/>
          <p:nvPr/>
        </p:nvSpPr>
        <p:spPr>
          <a:xfrm>
            <a:off x="7434072" y="1143000"/>
            <a:ext cx="117957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Argo CD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watches Git</a:t>
            </a:r>
            <a:endParaRPr lang="en-US" sz="1300" dirty="0"/>
          </a:p>
        </p:txBody>
      </p:sp>
      <p:sp>
        <p:nvSpPr>
          <p:cNvPr id="13" name="a1"/>
          <p:cNvSpPr/>
          <p:nvPr/>
        </p:nvSpPr>
        <p:spPr>
          <a:xfrm>
            <a:off x="1691640" y="1481328"/>
            <a:ext cx="365760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14" name="a2"/>
          <p:cNvSpPr/>
          <p:nvPr/>
        </p:nvSpPr>
        <p:spPr>
          <a:xfrm>
            <a:off x="3291840" y="1481328"/>
            <a:ext cx="365760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15" name="a3"/>
          <p:cNvSpPr/>
          <p:nvPr/>
        </p:nvSpPr>
        <p:spPr>
          <a:xfrm>
            <a:off x="5394960" y="1481328"/>
            <a:ext cx="365760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16" name="a4"/>
          <p:cNvSpPr/>
          <p:nvPr/>
        </p:nvSpPr>
        <p:spPr>
          <a:xfrm>
            <a:off x="6995160" y="1481328"/>
            <a:ext cx="365760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17" name="Cluster"/>
          <p:cNvSpPr/>
          <p:nvPr/>
        </p:nvSpPr>
        <p:spPr>
          <a:xfrm>
            <a:off x="3017520" y="214884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FFFFFF"/>
          </a:solidFill>
          <a:ln w="12700">
            <a:solidFill>
              <a:srgbClr val="8FA6B2"/>
            </a:solidFill>
            <a:prstDash val="dash"/>
          </a:ln>
        </p:spPr>
      </p:sp>
      <p:sp>
        <p:nvSpPr>
          <p:cNvPr id="18" name="Cluster label"/>
          <p:cNvSpPr txBox="1"/>
          <p:nvPr/>
        </p:nvSpPr>
        <p:spPr>
          <a:xfrm>
            <a:off x="3154680" y="22128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Kubernetes · namespace stockroom</a:t>
            </a:r>
            <a:endParaRPr lang="en-US" sz="1100" dirty="0"/>
          </a:p>
        </p:txBody>
      </p:sp>
      <p:sp>
        <p:nvSpPr>
          <p:cNvPr id="19" name="a5"/>
          <p:cNvSpPr/>
          <p:nvPr/>
        </p:nvSpPr>
        <p:spPr>
          <a:xfrm>
            <a:off x="8028432" y="1828800"/>
            <a:ext cx="0" cy="685800"/>
          </a:xfrm>
          <a:prstGeom prst="line">
            <a:avLst/>
          </a:prstGeom>
          <a:noFill/>
          <a:ln w="22225">
            <a:solidFill>
              <a:srgbClr val="F2A93B"/>
            </a:solidFill>
            <a:prstDash val="solid"/>
            <a:tailEnd type="triangle"/>
          </a:ln>
        </p:spPr>
      </p:sp>
      <p:sp>
        <p:nvSpPr>
          <p:cNvPr id="20" name="Ingress"/>
          <p:cNvSpPr/>
          <p:nvPr/>
        </p:nvSpPr>
        <p:spPr>
          <a:xfrm>
            <a:off x="3200400" y="2606040"/>
            <a:ext cx="1325880" cy="640080"/>
          </a:xfrm>
          <a:prstGeom prst="roundRect">
            <a:avLst>
              <a:gd name="adj" fmla="val 11429"/>
            </a:avLst>
          </a:prstGeom>
          <a:solidFill>
            <a:srgbClr val="3A4A54"/>
          </a:solidFill>
          <a:ln/>
        </p:spPr>
      </p:sp>
      <p:sp>
        <p:nvSpPr>
          <p:cNvPr id="21" name="Ingress label"/>
          <p:cNvSpPr txBox="1"/>
          <p:nvPr/>
        </p:nvSpPr>
        <p:spPr>
          <a:xfrm>
            <a:off x="3273552" y="2606040"/>
            <a:ext cx="117957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Ingress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/  and  /api</a:t>
            </a:r>
            <a:endParaRPr lang="en-US" sz="1300" dirty="0"/>
          </a:p>
        </p:txBody>
      </p:sp>
      <p:sp>
        <p:nvSpPr>
          <p:cNvPr id="22" name="Front"/>
          <p:cNvSpPr/>
          <p:nvPr/>
        </p:nvSpPr>
        <p:spPr>
          <a:xfrm>
            <a:off x="4892040" y="260604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1F3"/>
          </a:solidFill>
          <a:ln/>
        </p:spPr>
      </p:sp>
      <p:sp>
        <p:nvSpPr>
          <p:cNvPr id="23" name="Front label"/>
          <p:cNvSpPr txBox="1"/>
          <p:nvPr/>
        </p:nvSpPr>
        <p:spPr>
          <a:xfrm>
            <a:off x="4965192" y="260604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Frontend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React · Nginx ×2</a:t>
            </a:r>
            <a:endParaRPr lang="en-US" sz="1300" dirty="0"/>
          </a:p>
        </p:txBody>
      </p:sp>
      <p:sp>
        <p:nvSpPr>
          <p:cNvPr id="24" name="Back"/>
          <p:cNvSpPr/>
          <p:nvPr/>
        </p:nvSpPr>
        <p:spPr>
          <a:xfrm>
            <a:off x="4892040" y="3611880"/>
            <a:ext cx="1463040" cy="640080"/>
          </a:xfrm>
          <a:prstGeom prst="roundRect">
            <a:avLst>
              <a:gd name="adj" fmla="val 11429"/>
            </a:avLst>
          </a:prstGeom>
          <a:solidFill>
            <a:srgbClr val="EEF1F3"/>
          </a:solidFill>
          <a:ln/>
        </p:spPr>
      </p:sp>
      <p:sp>
        <p:nvSpPr>
          <p:cNvPr id="25" name="Back label"/>
          <p:cNvSpPr txBox="1"/>
          <p:nvPr/>
        </p:nvSpPr>
        <p:spPr>
          <a:xfrm>
            <a:off x="4965192" y="3611880"/>
            <a:ext cx="13167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Backend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FastAPI ×2</a:t>
            </a:r>
            <a:endParaRPr lang="en-US" sz="1300" dirty="0"/>
          </a:p>
        </p:txBody>
      </p:sp>
      <p:sp>
        <p:nvSpPr>
          <p:cNvPr id="26" name="PG"/>
          <p:cNvSpPr/>
          <p:nvPr/>
        </p:nvSpPr>
        <p:spPr>
          <a:xfrm>
            <a:off x="6720840" y="361188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EEF1F3"/>
          </a:solidFill>
          <a:ln/>
        </p:spPr>
      </p:sp>
      <p:sp>
        <p:nvSpPr>
          <p:cNvPr id="27" name="PG label"/>
          <p:cNvSpPr txBox="1"/>
          <p:nvPr/>
        </p:nvSpPr>
        <p:spPr>
          <a:xfrm>
            <a:off x="6793992" y="361188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PostgreSQL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PVC</a:t>
            </a:r>
            <a:endParaRPr lang="en-US" sz="1300" dirty="0"/>
          </a:p>
        </p:txBody>
      </p:sp>
      <p:sp>
        <p:nvSpPr>
          <p:cNvPr id="28" name="Prom"/>
          <p:cNvSpPr/>
          <p:nvPr/>
        </p:nvSpPr>
        <p:spPr>
          <a:xfrm>
            <a:off x="6720840" y="2606040"/>
            <a:ext cx="1280160" cy="640080"/>
          </a:xfrm>
          <a:prstGeom prst="roundRect">
            <a:avLst>
              <a:gd name="adj" fmla="val 11429"/>
            </a:avLst>
          </a:prstGeom>
          <a:solidFill>
            <a:srgbClr val="2F7D6D"/>
          </a:solidFill>
          <a:ln/>
        </p:spPr>
      </p:sp>
      <p:sp>
        <p:nvSpPr>
          <p:cNvPr id="29" name="Prom label"/>
          <p:cNvSpPr txBox="1"/>
          <p:nvPr/>
        </p:nvSpPr>
        <p:spPr>
          <a:xfrm>
            <a:off x="6793992" y="2606040"/>
            <a:ext cx="11338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Prometheus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→ Grafana</a:t>
            </a:r>
            <a:endParaRPr lang="en-US" sz="1300" dirty="0"/>
          </a:p>
        </p:txBody>
      </p:sp>
      <p:sp>
        <p:nvSpPr>
          <p:cNvPr id="30" name="a6"/>
          <p:cNvSpPr/>
          <p:nvPr/>
        </p:nvSpPr>
        <p:spPr>
          <a:xfrm>
            <a:off x="4526280" y="2926080"/>
            <a:ext cx="365760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31" name="a7 down"/>
          <p:cNvSpPr/>
          <p:nvPr/>
        </p:nvSpPr>
        <p:spPr>
          <a:xfrm>
            <a:off x="3858768" y="3246120"/>
            <a:ext cx="0" cy="68580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</a:ln>
        </p:spPr>
      </p:sp>
      <p:sp>
        <p:nvSpPr>
          <p:cNvPr id="32" name="a7"/>
          <p:cNvSpPr/>
          <p:nvPr/>
        </p:nvSpPr>
        <p:spPr>
          <a:xfrm>
            <a:off x="3858768" y="3931920"/>
            <a:ext cx="1033272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33" name="a8"/>
          <p:cNvSpPr/>
          <p:nvPr/>
        </p:nvSpPr>
        <p:spPr>
          <a:xfrm>
            <a:off x="6355080" y="3931920"/>
            <a:ext cx="365760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34" name="a9"/>
          <p:cNvSpPr/>
          <p:nvPr/>
        </p:nvSpPr>
        <p:spPr>
          <a:xfrm>
            <a:off x="6355080" y="3611880"/>
            <a:ext cx="365760" cy="-365760"/>
          </a:xfrm>
          <a:prstGeom prst="line">
            <a:avLst/>
          </a:prstGeom>
          <a:noFill/>
          <a:ln w="22225">
            <a:solidFill>
              <a:srgbClr val="2F7D6D"/>
            </a:solidFill>
            <a:prstDash val="solid"/>
            <a:tailEnd type="triangle"/>
          </a:ln>
        </p:spPr>
      </p:sp>
      <p:sp>
        <p:nvSpPr>
          <p:cNvPr id="35" name="TF"/>
          <p:cNvSpPr/>
          <p:nvPr/>
        </p:nvSpPr>
        <p:spPr>
          <a:xfrm>
            <a:off x="457200" y="2606040"/>
            <a:ext cx="2194560" cy="640080"/>
          </a:xfrm>
          <a:prstGeom prst="roundRect">
            <a:avLst>
              <a:gd name="adj" fmla="val 11429"/>
            </a:avLst>
          </a:prstGeom>
          <a:solidFill>
            <a:srgbClr val="1B2329"/>
          </a:solidFill>
          <a:ln/>
        </p:spPr>
      </p:sp>
      <p:sp>
        <p:nvSpPr>
          <p:cNvPr id="36" name="TF label"/>
          <p:cNvSpPr txBox="1"/>
          <p:nvPr/>
        </p:nvSpPr>
        <p:spPr>
          <a:xfrm>
            <a:off x="530352" y="2606040"/>
            <a:ext cx="204825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Terraform</a:t>
            </a:r>
            <a:endParaRPr lang="en-US" sz="1300" dirty="0"/>
          </a:p>
          <a:p>
            <a:pPr algn="ctr" indent="0" marL="0">
              <a:buNone/>
            </a:pPr>
            <a:r>
              <a:rPr lang="en-US" sz="1000" dirty="0">
                <a:solidFill>
                  <a:schemeClr val="bg1"/>
                </a:solidFill>
              </a:rPr>
              <a:t>VPC + EKS on AWS</a:t>
            </a:r>
            <a:endParaRPr lang="en-US" sz="1300" dirty="0"/>
          </a:p>
        </p:txBody>
      </p:sp>
      <p:sp>
        <p:nvSpPr>
          <p:cNvPr id="37" name="TF note"/>
          <p:cNvSpPr txBox="1"/>
          <p:nvPr/>
        </p:nvSpPr>
        <p:spPr>
          <a:xfrm>
            <a:off x="457200" y="338328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Infrastructure is created from code, proven, then destroyed to stop the cost.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CI/CD pipeline</a:t>
            </a:r>
            <a:endParaRPr lang="en-US" sz="3000" dirty="0"/>
          </a:p>
        </p:txBody>
      </p:sp>
      <p:sp>
        <p:nvSpPr>
          <p:cNvPr id="3" name="Job 1"/>
          <p:cNvSpPr/>
          <p:nvPr/>
        </p:nvSpPr>
        <p:spPr>
          <a:xfrm>
            <a:off x="457200" y="10972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EEF1F3"/>
          </a:solidFill>
          <a:ln/>
        </p:spPr>
      </p:sp>
      <p:sp>
        <p:nvSpPr>
          <p:cNvPr id="4" name="Job 1 head"/>
          <p:cNvSpPr txBox="1"/>
          <p:nvPr/>
        </p:nvSpPr>
        <p:spPr>
          <a:xfrm>
            <a:off x="68580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JOB 1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Test</a:t>
            </a:r>
            <a:endParaRPr lang="en-US" sz="1100" dirty="0"/>
          </a:p>
        </p:txBody>
      </p:sp>
      <p:sp>
        <p:nvSpPr>
          <p:cNvPr id="5" name="Job 1 steps"/>
          <p:cNvSpPr txBox="1"/>
          <p:nvPr/>
        </p:nvSpPr>
        <p:spPr>
          <a:xfrm>
            <a:off x="68580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pytest -v (12 tests)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npm ci + vite build</a:t>
            </a:r>
            <a:endParaRPr lang="en-US" sz="1300" dirty="0"/>
          </a:p>
        </p:txBody>
      </p:sp>
      <p:sp>
        <p:nvSpPr>
          <p:cNvPr id="6" name="Job 1 stop"/>
          <p:cNvSpPr txBox="1"/>
          <p:nvPr/>
        </p:nvSpPr>
        <p:spPr>
          <a:xfrm>
            <a:off x="68580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3"/>
                </a:solidFill>
              </a:rPr>
              <a:t>Stops on a failing test</a:t>
            </a:r>
            <a:endParaRPr lang="en-US" sz="1100" dirty="0"/>
          </a:p>
        </p:txBody>
      </p:sp>
      <p:sp>
        <p:nvSpPr>
          <p:cNvPr id="7" name="Job arrow 1"/>
          <p:cNvSpPr/>
          <p:nvPr/>
        </p:nvSpPr>
        <p:spPr>
          <a:xfrm>
            <a:off x="3035808" y="2258568"/>
            <a:ext cx="237744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8" name="Job 2"/>
          <p:cNvSpPr/>
          <p:nvPr/>
        </p:nvSpPr>
        <p:spPr>
          <a:xfrm>
            <a:off x="3291840" y="10972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1B2329"/>
          </a:solidFill>
          <a:ln/>
        </p:spPr>
      </p:sp>
      <p:sp>
        <p:nvSpPr>
          <p:cNvPr id="9" name="Job 2 head"/>
          <p:cNvSpPr txBox="1"/>
          <p:nvPr/>
        </p:nvSpPr>
        <p:spPr>
          <a:xfrm>
            <a:off x="352044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JOB 2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bg1"/>
                </a:solidFill>
              </a:rPr>
              <a:t>Images</a:t>
            </a:r>
            <a:endParaRPr lang="en-US" sz="1100" dirty="0"/>
          </a:p>
        </p:txBody>
      </p:sp>
      <p:sp>
        <p:nvSpPr>
          <p:cNvPr id="10" name="Job 2 steps"/>
          <p:cNvSpPr txBox="1"/>
          <p:nvPr/>
        </p:nvSpPr>
        <p:spPr>
          <a:xfrm>
            <a:off x="352044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docker build ×2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Trivy scan ×2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bg1"/>
                </a:solidFill>
              </a:rPr>
              <a:t>push to GHCR</a:t>
            </a:r>
            <a:endParaRPr lang="en-US" sz="1300" dirty="0"/>
          </a:p>
        </p:txBody>
      </p:sp>
      <p:sp>
        <p:nvSpPr>
          <p:cNvPr id="11" name="Job 2 stop"/>
          <p:cNvSpPr txBox="1"/>
          <p:nvPr/>
        </p:nvSpPr>
        <p:spPr>
          <a:xfrm>
            <a:off x="352044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1"/>
                </a:solidFill>
              </a:rPr>
              <a:t>Stops on a fixable HIGH/CRITICAL CVE</a:t>
            </a:r>
            <a:endParaRPr lang="en-US" sz="1100" dirty="0"/>
          </a:p>
        </p:txBody>
      </p:sp>
      <p:sp>
        <p:nvSpPr>
          <p:cNvPr id="12" name="Job arrow 2"/>
          <p:cNvSpPr/>
          <p:nvPr/>
        </p:nvSpPr>
        <p:spPr>
          <a:xfrm>
            <a:off x="5870448" y="2258568"/>
            <a:ext cx="237744" cy="0"/>
          </a:xfrm>
          <a:prstGeom prst="line">
            <a:avLst/>
          </a:prstGeom>
          <a:noFill/>
          <a:ln w="22225">
            <a:solidFill>
              <a:srgbClr val="3A4A54"/>
            </a:solidFill>
            <a:prstDash val="solid"/>
            <a:tailEnd type="triangle"/>
          </a:ln>
        </p:spPr>
      </p:sp>
      <p:sp>
        <p:nvSpPr>
          <p:cNvPr id="13" name="Job 3"/>
          <p:cNvSpPr/>
          <p:nvPr/>
        </p:nvSpPr>
        <p:spPr>
          <a:xfrm>
            <a:off x="6126480" y="1097280"/>
            <a:ext cx="2560320" cy="2331720"/>
          </a:xfrm>
          <a:prstGeom prst="roundRect">
            <a:avLst>
              <a:gd name="adj" fmla="val 3137"/>
            </a:avLst>
          </a:prstGeom>
          <a:solidFill>
            <a:srgbClr val="EEF1F3"/>
          </a:solidFill>
          <a:ln/>
        </p:spPr>
      </p:sp>
      <p:sp>
        <p:nvSpPr>
          <p:cNvPr id="14" name="Job 3 head"/>
          <p:cNvSpPr txBox="1"/>
          <p:nvPr/>
        </p:nvSpPr>
        <p:spPr>
          <a:xfrm>
            <a:off x="6355080" y="12344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JOB 3</a:t>
            </a:r>
            <a:endParaRPr lang="en-US" sz="1100" dirty="0"/>
          </a:p>
          <a:p>
            <a:pPr indent="0" marL="0">
              <a:buNone/>
            </a:pPr>
            <a:r>
              <a:rPr lang="en-US" sz="2200" b="1" dirty="0">
                <a:solidFill>
                  <a:schemeClr val="tx1"/>
                </a:solidFill>
              </a:rPr>
              <a:t>GitOps</a:t>
            </a:r>
            <a:endParaRPr lang="en-US" sz="1100" dirty="0"/>
          </a:p>
        </p:txBody>
      </p:sp>
      <p:sp>
        <p:nvSpPr>
          <p:cNvPr id="15" name="Job 3 steps"/>
          <p:cNvSpPr txBox="1"/>
          <p:nvPr/>
        </p:nvSpPr>
        <p:spPr>
          <a:xfrm>
            <a:off x="6355080" y="196596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yq writes the SHA into values.yaml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commit with [skip ci]</a:t>
            </a:r>
            <a:endParaRPr lang="en-US" sz="1300" dirty="0"/>
          </a:p>
        </p:txBody>
      </p:sp>
      <p:sp>
        <p:nvSpPr>
          <p:cNvPr id="16" name="Job 3 stop"/>
          <p:cNvSpPr txBox="1"/>
          <p:nvPr/>
        </p:nvSpPr>
        <p:spPr>
          <a:xfrm>
            <a:off x="6355080" y="30175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1100" dirty="0"/>
          </a:p>
        </p:txBody>
      </p:sp>
      <p:sp>
        <p:nvSpPr>
          <p:cNvPr id="17" name="Tag strip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18" name="Tag text"/>
          <p:cNvSpPr txBox="1"/>
          <p:nvPr/>
        </p:nvSpPr>
        <p:spPr>
          <a:xfrm>
            <a:off x="685800" y="370332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One commit = one image tag.  </a:t>
            </a:r>
            <a:pPr indent="0" marL="0">
              <a:buNone/>
            </a:pPr>
            <a:r>
              <a:rPr lang="en-US" sz="1300" dirty="0">
                <a:solidFill>
                  <a:schemeClr val="accent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ghcr.io/kartavya37/stockroom-backend:&lt;full SHA&gt;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chemeClr val="tx2"/>
                </a:solidFill>
              </a:rPr>
              <a:t>No "latest" tag. A rollback is a one-line revert in values.yaml.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Security gate: what Trivy found</a:t>
            </a:r>
            <a:endParaRPr lang="en-US" sz="3000" dirty="0"/>
          </a:p>
        </p:txBody>
      </p:sp>
      <p:sp>
        <p:nvSpPr>
          <p:cNvPr id="3" name="Backend"/>
          <p:cNvSpPr/>
          <p:nvPr/>
        </p:nvSpPr>
        <p:spPr>
          <a:xfrm>
            <a:off x="457200" y="109728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EEF1F3"/>
          </a:solidFill>
          <a:ln/>
        </p:spPr>
      </p:sp>
      <p:sp>
        <p:nvSpPr>
          <p:cNvPr id="4" name="Backend label"/>
          <p:cNvSpPr txBox="1"/>
          <p:nvPr/>
        </p:nvSpPr>
        <p:spPr>
          <a:xfrm>
            <a:off x="640080" y="1207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Backend image</a:t>
            </a:r>
            <a:endParaRPr lang="en-US" sz="1300" dirty="0"/>
          </a:p>
        </p:txBody>
      </p:sp>
      <p:sp>
        <p:nvSpPr>
          <p:cNvPr id="5" name="Backend before"/>
          <p:cNvSpPr txBox="1"/>
          <p:nvPr/>
        </p:nvSpPr>
        <p:spPr>
          <a:xfrm>
            <a:off x="64008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20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</p:txBody>
      </p:sp>
      <p:sp>
        <p:nvSpPr>
          <p:cNvPr id="6" name="Backend caption"/>
          <p:cNvSpPr txBox="1"/>
          <p:nvPr/>
        </p:nvSpPr>
        <p:spPr>
          <a:xfrm>
            <a:off x="64008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fixable HIGH / CRITICAL CVEs</a:t>
            </a:r>
            <a:endParaRPr lang="en-US" sz="1100" dirty="0"/>
          </a:p>
        </p:txBody>
      </p:sp>
      <p:sp>
        <p:nvSpPr>
          <p:cNvPr id="7" name="Frontend"/>
          <p:cNvSpPr/>
          <p:nvPr/>
        </p:nvSpPr>
        <p:spPr>
          <a:xfrm>
            <a:off x="2606040" y="1097280"/>
            <a:ext cx="1965960" cy="1965960"/>
          </a:xfrm>
          <a:prstGeom prst="roundRect">
            <a:avLst>
              <a:gd name="adj" fmla="val 3721"/>
            </a:avLst>
          </a:prstGeom>
          <a:solidFill>
            <a:srgbClr val="EEF1F3"/>
          </a:solidFill>
          <a:ln/>
        </p:spPr>
      </p:sp>
      <p:sp>
        <p:nvSpPr>
          <p:cNvPr id="8" name="Frontend label"/>
          <p:cNvSpPr txBox="1"/>
          <p:nvPr/>
        </p:nvSpPr>
        <p:spPr>
          <a:xfrm>
            <a:off x="2788920" y="1207008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Frontend image</a:t>
            </a:r>
            <a:endParaRPr lang="en-US" sz="1300" dirty="0"/>
          </a:p>
        </p:txBody>
      </p:sp>
      <p:sp>
        <p:nvSpPr>
          <p:cNvPr id="9" name="Frontend before"/>
          <p:cNvSpPr txBox="1"/>
          <p:nvPr/>
        </p:nvSpPr>
        <p:spPr>
          <a:xfrm>
            <a:off x="2788920" y="1554480"/>
            <a:ext cx="1737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chemeClr val="accent3"/>
                </a:solidFill>
              </a:rPr>
              <a:t>43</a:t>
            </a:r>
            <a:pPr indent="0" marL="0">
              <a:buNone/>
            </a:pPr>
            <a:r>
              <a:rPr lang="en-US" sz="2000" dirty="0">
                <a:solidFill>
                  <a:schemeClr val="tx2"/>
                </a:solidFill>
              </a:rPr>
              <a:t>  →  </a:t>
            </a:r>
            <a:pPr indent="0" marL="0">
              <a:buNone/>
            </a:pPr>
            <a:r>
              <a:rPr lang="en-US" sz="4000" b="1" dirty="0">
                <a:solidFill>
                  <a:schemeClr val="accent2"/>
                </a:solidFill>
              </a:rPr>
              <a:t>0</a:t>
            </a:r>
            <a:endParaRPr lang="en-US" sz="4000" dirty="0"/>
          </a:p>
        </p:txBody>
      </p:sp>
      <p:sp>
        <p:nvSpPr>
          <p:cNvPr id="10" name="Frontend caption"/>
          <p:cNvSpPr txBox="1"/>
          <p:nvPr/>
        </p:nvSpPr>
        <p:spPr>
          <a:xfrm>
            <a:off x="2788920" y="2423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fixable HIGH / CRITICAL CVEs</a:t>
            </a:r>
            <a:endParaRPr lang="en-US" sz="1100" dirty="0"/>
          </a:p>
        </p:txBody>
      </p:sp>
      <p:sp>
        <p:nvSpPr>
          <p:cNvPr id="11" name="CVE card"/>
          <p:cNvSpPr/>
          <p:nvPr/>
        </p:nvSpPr>
        <p:spPr>
          <a:xfrm>
            <a:off x="4754880" y="1097280"/>
            <a:ext cx="3931920" cy="3429000"/>
          </a:xfrm>
          <a:prstGeom prst="roundRect">
            <a:avLst>
              <a:gd name="adj" fmla="val 2133"/>
            </a:avLst>
          </a:prstGeom>
          <a:solidFill>
            <a:srgbClr val="1B2329"/>
          </a:solidFill>
          <a:ln/>
        </p:spPr>
      </p:sp>
      <p:sp>
        <p:nvSpPr>
          <p:cNvPr id="12" name="CVE text"/>
          <p:cNvSpPr txBox="1"/>
          <p:nvPr/>
        </p:nvSpPr>
        <p:spPr>
          <a:xfrm>
            <a:off x="4983480" y="1234440"/>
            <a:ext cx="352044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CVE-2026-13221  ·  CRITICAL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accent5"/>
                </a:solidFill>
              </a:rPr>
              <a:t>perl-base 5.40.1-6 in the Debian base image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dirty="0">
                <a:solidFill>
                  <a:schemeClr val="bg1"/>
                </a:solidFill>
              </a:rPr>
              <a:t>Perl mishandles very large regular expressions. StockRoom never runs Perl, so the API cannot reach it — but the package ships in the image, and Trivy reports what is present, not what is called.</a:t>
            </a:r>
            <a:endParaRPr lang="en-US" sz="1500" dirty="0"/>
          </a:p>
          <a:p>
            <a:pPr indent="0" marL="0">
              <a:buNone/>
            </a:pPr>
            <a:r>
              <a:rPr lang="en-US" sz="600" dirty="0">
                <a:solidFill>
                  <a:srgbClr val="000000"/>
                </a:solidFill>
              </a:rPr>
              <a:t> </a:t>
            </a:r>
            <a:endParaRPr lang="en-US" sz="1500" dirty="0"/>
          </a:p>
          <a:p>
            <a:pPr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Fix: apt-get upgrade → 5.40.1-6+deb13u1</a:t>
            </a:r>
            <a:endParaRPr lang="en-US" sz="1500" dirty="0"/>
          </a:p>
        </p:txBody>
      </p:sp>
      <p:sp>
        <p:nvSpPr>
          <p:cNvPr id="13" name="Fixes"/>
          <p:cNvSpPr txBox="1"/>
          <p:nvPr/>
        </p:nvSpPr>
        <p:spPr>
          <a:xfrm>
            <a:off x="457200" y="3246120"/>
            <a:ext cx="4114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3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The fixes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OS upgrades in both images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FastAPI 0.143.2 → Starlette 1.8.0</a:t>
            </a:r>
            <a:endParaRPr lang="en-US" sz="13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300" dirty="0">
                <a:solidFill>
                  <a:schemeClr val="tx2"/>
                </a:solidFill>
              </a:rPr>
              <a:t>nginx 1.27 → 1.30 Alpine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Infrastructure as code on AWS</a:t>
            </a:r>
            <a:endParaRPr lang="en-US" sz="3000" dirty="0"/>
          </a:p>
        </p:txBody>
      </p:sp>
      <p:sp>
        <p:nvSpPr>
          <p:cNvPr id="3" name="VPC"/>
          <p:cNvSpPr/>
          <p:nvPr/>
        </p:nvSpPr>
        <p:spPr>
          <a:xfrm>
            <a:off x="457200" y="1097280"/>
            <a:ext cx="5120640" cy="3429000"/>
          </a:xfrm>
          <a:prstGeom prst="roundRect">
            <a:avLst>
              <a:gd name="adj" fmla="val 2133"/>
            </a:avLst>
          </a:prstGeom>
          <a:solidFill>
            <a:srgbClr val="EEF1F3"/>
          </a:solidFill>
          <a:ln w="12700">
            <a:solidFill>
              <a:srgbClr val="4F6D7A"/>
            </a:solidFill>
            <a:prstDash val="solid"/>
          </a:ln>
        </p:spPr>
      </p:sp>
      <p:sp>
        <p:nvSpPr>
          <p:cNvPr id="4" name="VPC label"/>
          <p:cNvSpPr txBox="1"/>
          <p:nvPr/>
        </p:nvSpPr>
        <p:spPr>
          <a:xfrm>
            <a:off x="640080" y="11704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VPC 10.0.0.0/16  ·  ap-south-1</a:t>
            </a:r>
            <a:endParaRPr lang="en-US" sz="1200" dirty="0"/>
          </a:p>
        </p:txBody>
      </p:sp>
      <p:sp>
        <p:nvSpPr>
          <p:cNvPr id="5" name="Public 0"/>
          <p:cNvSpPr/>
          <p:nvPr/>
        </p:nvSpPr>
        <p:spPr>
          <a:xfrm>
            <a:off x="685800" y="1600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6" name="Public 0 t"/>
          <p:cNvSpPr txBox="1"/>
          <p:nvPr/>
        </p:nvSpPr>
        <p:spPr>
          <a:xfrm>
            <a:off x="777240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 subnet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10.0.1.0/24 · ap-south-1a</a:t>
            </a:r>
            <a:endParaRPr lang="en-US" sz="1300" dirty="0"/>
          </a:p>
        </p:txBody>
      </p:sp>
      <p:sp>
        <p:nvSpPr>
          <p:cNvPr id="7" name="Node 0"/>
          <p:cNvSpPr/>
          <p:nvPr/>
        </p:nvSpPr>
        <p:spPr>
          <a:xfrm>
            <a:off x="960120" y="251460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8" name="Node 0 t"/>
          <p:cNvSpPr txBox="1"/>
          <p:nvPr/>
        </p:nvSpPr>
        <p:spPr>
          <a:xfrm>
            <a:off x="100584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Worker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t3.medium</a:t>
            </a:r>
            <a:endParaRPr lang="en-US" sz="1200" dirty="0"/>
          </a:p>
        </p:txBody>
      </p:sp>
      <p:sp>
        <p:nvSpPr>
          <p:cNvPr id="9" name="Public 1"/>
          <p:cNvSpPr/>
          <p:nvPr/>
        </p:nvSpPr>
        <p:spPr>
          <a:xfrm>
            <a:off x="3154680" y="1600200"/>
            <a:ext cx="2194560" cy="20116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12700">
            <a:solidFill>
              <a:srgbClr val="F2A93B"/>
            </a:solidFill>
            <a:prstDash val="solid"/>
          </a:ln>
        </p:spPr>
      </p:sp>
      <p:sp>
        <p:nvSpPr>
          <p:cNvPr id="10" name="Public 1 t"/>
          <p:cNvSpPr txBox="1"/>
          <p:nvPr/>
        </p:nvSpPr>
        <p:spPr>
          <a:xfrm>
            <a:off x="3246120" y="16916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Public subnet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10.0.2.0/24 · ap-south-1b</a:t>
            </a:r>
            <a:endParaRPr lang="en-US" sz="1300" dirty="0"/>
          </a:p>
        </p:txBody>
      </p:sp>
      <p:sp>
        <p:nvSpPr>
          <p:cNvPr id="11" name="Node 1"/>
          <p:cNvSpPr/>
          <p:nvPr/>
        </p:nvSpPr>
        <p:spPr>
          <a:xfrm>
            <a:off x="3429000" y="2514600"/>
            <a:ext cx="164592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 w="12700">
            <a:solidFill>
              <a:srgbClr val="2F7D6D"/>
            </a:solidFill>
            <a:prstDash val="solid"/>
          </a:ln>
        </p:spPr>
      </p:sp>
      <p:sp>
        <p:nvSpPr>
          <p:cNvPr id="12" name="Node 1 t"/>
          <p:cNvSpPr txBox="1"/>
          <p:nvPr/>
        </p:nvSpPr>
        <p:spPr>
          <a:xfrm>
            <a:off x="3474720" y="2514600"/>
            <a:ext cx="1554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Worker node</a:t>
            </a:r>
            <a:endParaRPr lang="en-US" sz="12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t3.medium</a:t>
            </a:r>
            <a:endParaRPr lang="en-US" sz="1200" dirty="0"/>
          </a:p>
        </p:txBody>
      </p:sp>
      <p:sp>
        <p:nvSpPr>
          <p:cNvPr id="13" name="EKS"/>
          <p:cNvSpPr/>
          <p:nvPr/>
        </p:nvSpPr>
        <p:spPr>
          <a:xfrm>
            <a:off x="685800" y="3794760"/>
            <a:ext cx="4663440" cy="548640"/>
          </a:xfrm>
          <a:prstGeom prst="roundRect">
            <a:avLst>
              <a:gd name="adj" fmla="val 13333"/>
            </a:avLst>
          </a:prstGeom>
          <a:solidFill>
            <a:srgbClr val="1B2329"/>
          </a:solidFill>
          <a:ln/>
        </p:spPr>
      </p:sp>
      <p:sp>
        <p:nvSpPr>
          <p:cNvPr id="14" name="EKS t"/>
          <p:cNvSpPr txBox="1"/>
          <p:nvPr/>
        </p:nvSpPr>
        <p:spPr>
          <a:xfrm>
            <a:off x="777240" y="3794760"/>
            <a:ext cx="4480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EKS 1.36 control plane  ·  managed node group</a:t>
            </a:r>
            <a:endParaRPr lang="en-US" sz="1200" dirty="0"/>
          </a:p>
        </p:txBody>
      </p:sp>
      <p:sp>
        <p:nvSpPr>
          <p:cNvPr id="15" name="TF point 0"/>
          <p:cNvSpPr txBox="1"/>
          <p:nvPr/>
        </p:nvSpPr>
        <p:spPr>
          <a:xfrm>
            <a:off x="5852160" y="109728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terraform plan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shows every resource before anything is created</a:t>
            </a:r>
            <a:endParaRPr lang="en-US" sz="1400" dirty="0"/>
          </a:p>
        </p:txBody>
      </p:sp>
      <p:sp>
        <p:nvSpPr>
          <p:cNvPr id="16" name="TF point 1"/>
          <p:cNvSpPr txBox="1"/>
          <p:nvPr/>
        </p:nvSpPr>
        <p:spPr>
          <a:xfrm>
            <a:off x="5852160" y="196596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EKS 1.36, not 1.31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1.31–1.33 are in extended support: 6× the control-plane price</a:t>
            </a:r>
            <a:endParaRPr lang="en-US" sz="1400" dirty="0"/>
          </a:p>
        </p:txBody>
      </p:sp>
      <p:sp>
        <p:nvSpPr>
          <p:cNvPr id="17" name="TF point 2"/>
          <p:cNvSpPr txBox="1"/>
          <p:nvPr/>
        </p:nvSpPr>
        <p:spPr>
          <a:xfrm>
            <a:off x="5852160" y="283464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No NAT gateway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nodes sit in the public subnets: cheaper and faster to create</a:t>
            </a:r>
            <a:endParaRPr lang="en-US" sz="1400" dirty="0"/>
          </a:p>
        </p:txBody>
      </p:sp>
      <p:sp>
        <p:nvSpPr>
          <p:cNvPr id="18" name="TF point 3"/>
          <p:cNvSpPr txBox="1"/>
          <p:nvPr/>
        </p:nvSpPr>
        <p:spPr>
          <a:xfrm>
            <a:off x="5852160" y="3703320"/>
            <a:ext cx="2834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terraform destroy</a:t>
            </a:r>
            <a:endParaRPr lang="en-US" sz="1400" dirty="0"/>
          </a:p>
          <a:p>
            <a:pPr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right after the demo; no keys in the repo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Kubernetes, Helm and GitOps</a:t>
            </a:r>
            <a:endParaRPr lang="en-US" sz="3000" dirty="0"/>
          </a:p>
        </p:txBody>
      </p:sp>
      <p:sp>
        <p:nvSpPr>
          <p:cNvPr id="3" name="Chart head"/>
          <p:cNvSpPr txBox="1"/>
          <p:nvPr/>
        </p:nvSpPr>
        <p:spPr>
          <a:xfrm>
            <a:off x="457200" y="1051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1"/>
                </a:solidFill>
              </a:rPr>
              <a:t>One Helm chart</a:t>
            </a:r>
            <a:endParaRPr lang="en-US" sz="1600" dirty="0"/>
          </a:p>
        </p:txBody>
      </p:sp>
      <p:sp>
        <p:nvSpPr>
          <p:cNvPr id="4" name="Obj 0"/>
          <p:cNvSpPr/>
          <p:nvPr/>
        </p:nvSpPr>
        <p:spPr>
          <a:xfrm>
            <a:off x="457200" y="1463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5" name="Obj 0 t"/>
          <p:cNvSpPr txBox="1"/>
          <p:nvPr/>
        </p:nvSpPr>
        <p:spPr>
          <a:xfrm>
            <a:off x="59436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Deployments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backend ×2 · frontend ×2 · postgres</a:t>
            </a:r>
            <a:endParaRPr lang="en-US" sz="1300" dirty="0"/>
          </a:p>
        </p:txBody>
      </p:sp>
      <p:sp>
        <p:nvSpPr>
          <p:cNvPr id="6" name="Obj 1"/>
          <p:cNvSpPr/>
          <p:nvPr/>
        </p:nvSpPr>
        <p:spPr>
          <a:xfrm>
            <a:off x="2514600" y="146304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7" name="Obj 1 t"/>
          <p:cNvSpPr txBox="1"/>
          <p:nvPr/>
        </p:nvSpPr>
        <p:spPr>
          <a:xfrm>
            <a:off x="2651760" y="146304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ClusterIP for each tier</a:t>
            </a:r>
            <a:endParaRPr lang="en-US" sz="1300" dirty="0"/>
          </a:p>
        </p:txBody>
      </p:sp>
      <p:sp>
        <p:nvSpPr>
          <p:cNvPr id="8" name="Obj 2"/>
          <p:cNvSpPr/>
          <p:nvPr/>
        </p:nvSpPr>
        <p:spPr>
          <a:xfrm>
            <a:off x="457200" y="24688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9" name="Obj 2 t"/>
          <p:cNvSpPr txBox="1"/>
          <p:nvPr/>
        </p:nvSpPr>
        <p:spPr>
          <a:xfrm>
            <a:off x="594360" y="2468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Ingress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/ → frontend, /api → backend</a:t>
            </a:r>
            <a:endParaRPr lang="en-US" sz="1300" dirty="0"/>
          </a:p>
        </p:txBody>
      </p:sp>
      <p:sp>
        <p:nvSpPr>
          <p:cNvPr id="10" name="Obj 3"/>
          <p:cNvSpPr/>
          <p:nvPr/>
        </p:nvSpPr>
        <p:spPr>
          <a:xfrm>
            <a:off x="2514600" y="246888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11" name="Obj 3 t"/>
          <p:cNvSpPr txBox="1"/>
          <p:nvPr/>
        </p:nvSpPr>
        <p:spPr>
          <a:xfrm>
            <a:off x="2651760" y="246888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Secret + PVC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database URL and storage</a:t>
            </a:r>
            <a:endParaRPr lang="en-US" sz="1300" dirty="0"/>
          </a:p>
        </p:txBody>
      </p:sp>
      <p:sp>
        <p:nvSpPr>
          <p:cNvPr id="12" name="Obj 4"/>
          <p:cNvSpPr/>
          <p:nvPr/>
        </p:nvSpPr>
        <p:spPr>
          <a:xfrm>
            <a:off x="457200" y="34747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13" name="Obj 4 t"/>
          <p:cNvSpPr txBox="1"/>
          <p:nvPr/>
        </p:nvSpPr>
        <p:spPr>
          <a:xfrm>
            <a:off x="594360" y="3474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ServiceMonitor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Prometheus scrape config</a:t>
            </a:r>
            <a:endParaRPr lang="en-US" sz="1300" dirty="0"/>
          </a:p>
        </p:txBody>
      </p:sp>
      <p:sp>
        <p:nvSpPr>
          <p:cNvPr id="14" name="Obj 5"/>
          <p:cNvSpPr/>
          <p:nvPr/>
        </p:nvSpPr>
        <p:spPr>
          <a:xfrm>
            <a:off x="2514600" y="3474720"/>
            <a:ext cx="1920240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15" name="Obj 5 t"/>
          <p:cNvSpPr txBox="1"/>
          <p:nvPr/>
        </p:nvSpPr>
        <p:spPr>
          <a:xfrm>
            <a:off x="2651760" y="3474720"/>
            <a:ext cx="1691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Dashboard ConfigMap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chemeClr val="tx2"/>
                </a:solidFill>
              </a:rPr>
              <a:t>loaded by the Grafana sidecar</a:t>
            </a:r>
            <a:endParaRPr lang="en-US" sz="1300" dirty="0"/>
          </a:p>
        </p:txBody>
      </p:sp>
      <p:sp>
        <p:nvSpPr>
          <p:cNvPr id="16" name="GitOps panel"/>
          <p:cNvSpPr/>
          <p:nvPr/>
        </p:nvSpPr>
        <p:spPr>
          <a:xfrm>
            <a:off x="4846320" y="1051560"/>
            <a:ext cx="3840480" cy="3474720"/>
          </a:xfrm>
          <a:prstGeom prst="roundRect">
            <a:avLst>
              <a:gd name="adj" fmla="val 2105"/>
            </a:avLst>
          </a:prstGeom>
          <a:solidFill>
            <a:srgbClr val="1B2329"/>
          </a:solidFill>
          <a:ln/>
        </p:spPr>
      </p:sp>
      <p:sp>
        <p:nvSpPr>
          <p:cNvPr id="17" name="GitOps head"/>
          <p:cNvSpPr txBox="1"/>
          <p:nvPr/>
        </p:nvSpPr>
        <p:spPr>
          <a:xfrm>
            <a:off x="5074920" y="11887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accent1"/>
                </a:solidFill>
              </a:rPr>
              <a:t>GitOps flow</a:t>
            </a:r>
            <a:endParaRPr lang="en-US" sz="1600" dirty="0"/>
          </a:p>
        </p:txBody>
      </p:sp>
      <p:sp>
        <p:nvSpPr>
          <p:cNvPr id="18" name="Flow dot 0"/>
          <p:cNvSpPr/>
          <p:nvPr/>
        </p:nvSpPr>
        <p:spPr>
          <a:xfrm>
            <a:off x="5120640" y="1645920"/>
            <a:ext cx="292608" cy="292608"/>
          </a:xfrm>
          <a:prstGeom prst="ellipse">
            <a:avLst/>
          </a:prstGeom>
          <a:solidFill>
            <a:srgbClr val="3A4A54"/>
          </a:solidFill>
          <a:ln/>
        </p:spPr>
      </p:sp>
      <p:sp>
        <p:nvSpPr>
          <p:cNvPr id="19" name="Flow n 0"/>
          <p:cNvSpPr txBox="1"/>
          <p:nvPr/>
        </p:nvSpPr>
        <p:spPr>
          <a:xfrm>
            <a:off x="5120640" y="1645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1</a:t>
            </a:r>
            <a:endParaRPr lang="en-US" sz="1100" dirty="0"/>
          </a:p>
        </p:txBody>
      </p:sp>
      <p:sp>
        <p:nvSpPr>
          <p:cNvPr id="20" name="Flow t 0"/>
          <p:cNvSpPr txBox="1"/>
          <p:nvPr/>
        </p:nvSpPr>
        <p:spPr>
          <a:xfrm>
            <a:off x="5577840" y="16002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git push</a:t>
            </a:r>
            <a:endParaRPr lang="en-US" sz="1400" dirty="0"/>
          </a:p>
        </p:txBody>
      </p:sp>
      <p:sp>
        <p:nvSpPr>
          <p:cNvPr id="21" name="Flow dot 1"/>
          <p:cNvSpPr/>
          <p:nvPr/>
        </p:nvSpPr>
        <p:spPr>
          <a:xfrm>
            <a:off x="5120640" y="2103120"/>
            <a:ext cx="292608" cy="292608"/>
          </a:xfrm>
          <a:prstGeom prst="ellipse">
            <a:avLst/>
          </a:prstGeom>
          <a:solidFill>
            <a:srgbClr val="3A4A54"/>
          </a:solidFill>
          <a:ln/>
        </p:spPr>
      </p:sp>
      <p:sp>
        <p:nvSpPr>
          <p:cNvPr id="22" name="Flow n 1"/>
          <p:cNvSpPr txBox="1"/>
          <p:nvPr/>
        </p:nvSpPr>
        <p:spPr>
          <a:xfrm>
            <a:off x="5120640" y="21031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2</a:t>
            </a:r>
            <a:endParaRPr lang="en-US" sz="1100" dirty="0"/>
          </a:p>
        </p:txBody>
      </p:sp>
      <p:sp>
        <p:nvSpPr>
          <p:cNvPr id="23" name="Flow t 1"/>
          <p:cNvSpPr txBox="1"/>
          <p:nvPr/>
        </p:nvSpPr>
        <p:spPr>
          <a:xfrm>
            <a:off x="5577840" y="20574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pipeline builds and scans</a:t>
            </a:r>
            <a:endParaRPr lang="en-US" sz="1400" dirty="0"/>
          </a:p>
        </p:txBody>
      </p:sp>
      <p:sp>
        <p:nvSpPr>
          <p:cNvPr id="24" name="Flow dot 2"/>
          <p:cNvSpPr/>
          <p:nvPr/>
        </p:nvSpPr>
        <p:spPr>
          <a:xfrm>
            <a:off x="5120640" y="2560320"/>
            <a:ext cx="292608" cy="292608"/>
          </a:xfrm>
          <a:prstGeom prst="ellipse">
            <a:avLst/>
          </a:prstGeom>
          <a:solidFill>
            <a:srgbClr val="3A4A54"/>
          </a:solidFill>
          <a:ln/>
        </p:spPr>
      </p:sp>
      <p:sp>
        <p:nvSpPr>
          <p:cNvPr id="25" name="Flow n 2"/>
          <p:cNvSpPr txBox="1"/>
          <p:nvPr/>
        </p:nvSpPr>
        <p:spPr>
          <a:xfrm>
            <a:off x="5120640" y="25603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3</a:t>
            </a:r>
            <a:endParaRPr lang="en-US" sz="1100" dirty="0"/>
          </a:p>
        </p:txBody>
      </p:sp>
      <p:sp>
        <p:nvSpPr>
          <p:cNvPr id="26" name="Flow t 2"/>
          <p:cNvSpPr txBox="1"/>
          <p:nvPr/>
        </p:nvSpPr>
        <p:spPr>
          <a:xfrm>
            <a:off x="5577840" y="25146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job 3 commits the new SHA</a:t>
            </a:r>
            <a:endParaRPr lang="en-US" sz="1400" dirty="0"/>
          </a:p>
        </p:txBody>
      </p:sp>
      <p:sp>
        <p:nvSpPr>
          <p:cNvPr id="27" name="Flow dot 3"/>
          <p:cNvSpPr/>
          <p:nvPr/>
        </p:nvSpPr>
        <p:spPr>
          <a:xfrm>
            <a:off x="5120640" y="3017520"/>
            <a:ext cx="292608" cy="292608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28" name="Flow n 3"/>
          <p:cNvSpPr txBox="1"/>
          <p:nvPr/>
        </p:nvSpPr>
        <p:spPr>
          <a:xfrm>
            <a:off x="5120640" y="3017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1"/>
                </a:solidFill>
              </a:rPr>
              <a:t>4</a:t>
            </a:r>
            <a:endParaRPr lang="en-US" sz="1100" dirty="0"/>
          </a:p>
        </p:txBody>
      </p:sp>
      <p:sp>
        <p:nvSpPr>
          <p:cNvPr id="29" name="Flow t 3"/>
          <p:cNvSpPr txBox="1"/>
          <p:nvPr/>
        </p:nvSpPr>
        <p:spPr>
          <a:xfrm>
            <a:off x="5577840" y="29718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Argo CD detects the change</a:t>
            </a:r>
            <a:endParaRPr lang="en-US" sz="1400" dirty="0"/>
          </a:p>
        </p:txBody>
      </p:sp>
      <p:sp>
        <p:nvSpPr>
          <p:cNvPr id="30" name="Flow dot 4"/>
          <p:cNvSpPr/>
          <p:nvPr/>
        </p:nvSpPr>
        <p:spPr>
          <a:xfrm>
            <a:off x="5120640" y="3474720"/>
            <a:ext cx="292608" cy="292608"/>
          </a:xfrm>
          <a:prstGeom prst="ellipse">
            <a:avLst/>
          </a:prstGeom>
          <a:solidFill>
            <a:srgbClr val="3A4A54"/>
          </a:solidFill>
          <a:ln/>
        </p:spPr>
      </p:sp>
      <p:sp>
        <p:nvSpPr>
          <p:cNvPr id="31" name="Flow n 4"/>
          <p:cNvSpPr txBox="1"/>
          <p:nvPr/>
        </p:nvSpPr>
        <p:spPr>
          <a:xfrm>
            <a:off x="5120640" y="34747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bg1"/>
                </a:solidFill>
              </a:rPr>
              <a:t>5</a:t>
            </a:r>
            <a:endParaRPr lang="en-US" sz="1100" dirty="0"/>
          </a:p>
        </p:txBody>
      </p:sp>
      <p:sp>
        <p:nvSpPr>
          <p:cNvPr id="32" name="Flow t 4"/>
          <p:cNvSpPr txBox="1"/>
          <p:nvPr/>
        </p:nvSpPr>
        <p:spPr>
          <a:xfrm>
            <a:off x="5577840" y="3429000"/>
            <a:ext cx="2926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chemeClr val="bg1"/>
                </a:solidFill>
              </a:rPr>
              <a:t>new Pods roll out</a:t>
            </a:r>
            <a:endParaRPr lang="en-US" sz="1400" dirty="0"/>
          </a:p>
        </p:txBody>
      </p:sp>
      <p:sp>
        <p:nvSpPr>
          <p:cNvPr id="33" name="GitOps note"/>
          <p:cNvSpPr txBox="1"/>
          <p:nvPr/>
        </p:nvSpPr>
        <p:spPr>
          <a:xfrm>
            <a:off x="5074920" y="402336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5"/>
                </a:solidFill>
              </a:rPr>
              <a:t>Auto sync, prune and self-heal. Git is the only way to change the cluster.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1"/>
                </a:solidFill>
              </a:rPr>
              <a:t>Observability</a:t>
            </a:r>
            <a:endParaRPr lang="en-US" sz="3000" dirty="0"/>
          </a:p>
        </p:txBody>
      </p:sp>
      <p:sp>
        <p:nvSpPr>
          <p:cNvPr id="3" name="Chain 0 circle"/>
          <p:cNvSpPr/>
          <p:nvPr/>
        </p:nvSpPr>
        <p:spPr>
          <a:xfrm>
            <a:off x="1005840" y="1143000"/>
            <a:ext cx="777240" cy="777240"/>
          </a:xfrm>
          <a:prstGeom prst="ellipse">
            <a:avLst/>
          </a:prstGeom>
          <a:solidFill>
            <a:srgbClr val="1B2329"/>
          </a:solidFill>
          <a:ln/>
        </p:spPr>
      </p:sp>
      <p:pic>
        <p:nvPicPr>
          <p:cNvPr id="4" name="Chai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92378" y="1329538"/>
            <a:ext cx="404165" cy="404165"/>
          </a:xfrm>
          <a:prstGeom prst="rect">
            <a:avLst/>
          </a:prstGeom>
        </p:spPr>
      </p:pic>
      <p:sp>
        <p:nvSpPr>
          <p:cNvPr id="5" name="Chain 0 t"/>
          <p:cNvSpPr txBox="1"/>
          <p:nvPr/>
        </p:nvSpPr>
        <p:spPr>
          <a:xfrm>
            <a:off x="457200" y="20116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Backend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/metrics on every Pod</a:t>
            </a:r>
            <a:endParaRPr lang="en-US" sz="1500" dirty="0"/>
          </a:p>
        </p:txBody>
      </p:sp>
      <p:sp>
        <p:nvSpPr>
          <p:cNvPr id="6" name="Chain arrow 0"/>
          <p:cNvSpPr/>
          <p:nvPr/>
        </p:nvSpPr>
        <p:spPr>
          <a:xfrm>
            <a:off x="1920240" y="1527048"/>
            <a:ext cx="960120" cy="0"/>
          </a:xfrm>
          <a:prstGeom prst="line">
            <a:avLst/>
          </a:prstGeom>
          <a:noFill/>
          <a:ln w="22225">
            <a:solidFill>
              <a:srgbClr val="4F6D7A"/>
            </a:solidFill>
            <a:prstDash val="solid"/>
            <a:tailEnd type="triangle"/>
          </a:ln>
        </p:spPr>
      </p:sp>
      <p:sp>
        <p:nvSpPr>
          <p:cNvPr id="7" name="Chain 1 circle"/>
          <p:cNvSpPr/>
          <p:nvPr/>
        </p:nvSpPr>
        <p:spPr>
          <a:xfrm>
            <a:off x="3154680" y="1143000"/>
            <a:ext cx="777240" cy="777240"/>
          </a:xfrm>
          <a:prstGeom prst="ellipse">
            <a:avLst/>
          </a:prstGeom>
          <a:solidFill>
            <a:srgbClr val="1B2329"/>
          </a:solidFill>
          <a:ln/>
        </p:spPr>
      </p:sp>
      <p:pic>
        <p:nvPicPr>
          <p:cNvPr id="8" name="Chai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41218" y="1329538"/>
            <a:ext cx="404165" cy="404165"/>
          </a:xfrm>
          <a:prstGeom prst="rect">
            <a:avLst/>
          </a:prstGeom>
        </p:spPr>
      </p:pic>
      <p:sp>
        <p:nvSpPr>
          <p:cNvPr id="9" name="Chain 1 t"/>
          <p:cNvSpPr txBox="1"/>
          <p:nvPr/>
        </p:nvSpPr>
        <p:spPr>
          <a:xfrm>
            <a:off x="2606040" y="20116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ServiceMonitor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tells Prometheus what to scrape</a:t>
            </a:r>
            <a:endParaRPr lang="en-US" sz="1500" dirty="0"/>
          </a:p>
        </p:txBody>
      </p:sp>
      <p:sp>
        <p:nvSpPr>
          <p:cNvPr id="10" name="Chain arrow 1"/>
          <p:cNvSpPr/>
          <p:nvPr/>
        </p:nvSpPr>
        <p:spPr>
          <a:xfrm>
            <a:off x="4069080" y="1527048"/>
            <a:ext cx="960120" cy="0"/>
          </a:xfrm>
          <a:prstGeom prst="line">
            <a:avLst/>
          </a:prstGeom>
          <a:noFill/>
          <a:ln w="22225">
            <a:solidFill>
              <a:srgbClr val="4F6D7A"/>
            </a:solidFill>
            <a:prstDash val="solid"/>
            <a:tailEnd type="triangle"/>
          </a:ln>
        </p:spPr>
      </p:sp>
      <p:sp>
        <p:nvSpPr>
          <p:cNvPr id="11" name="Chain 2 circle"/>
          <p:cNvSpPr/>
          <p:nvPr/>
        </p:nvSpPr>
        <p:spPr>
          <a:xfrm>
            <a:off x="5303520" y="1143000"/>
            <a:ext cx="777240" cy="777240"/>
          </a:xfrm>
          <a:prstGeom prst="ellipse">
            <a:avLst/>
          </a:prstGeom>
          <a:solidFill>
            <a:srgbClr val="1B2329"/>
          </a:solidFill>
          <a:ln/>
        </p:spPr>
      </p:sp>
      <p:pic>
        <p:nvPicPr>
          <p:cNvPr id="12" name="Chai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90058" y="1329538"/>
            <a:ext cx="404165" cy="404165"/>
          </a:xfrm>
          <a:prstGeom prst="rect">
            <a:avLst/>
          </a:prstGeom>
        </p:spPr>
      </p:pic>
      <p:sp>
        <p:nvSpPr>
          <p:cNvPr id="13" name="Chain 2 t"/>
          <p:cNvSpPr txBox="1"/>
          <p:nvPr/>
        </p:nvSpPr>
        <p:spPr>
          <a:xfrm>
            <a:off x="4754880" y="20116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Prometheus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scrapes every 15 s</a:t>
            </a:r>
            <a:endParaRPr lang="en-US" sz="1500" dirty="0"/>
          </a:p>
        </p:txBody>
      </p:sp>
      <p:sp>
        <p:nvSpPr>
          <p:cNvPr id="14" name="Chain arrow 2"/>
          <p:cNvSpPr/>
          <p:nvPr/>
        </p:nvSpPr>
        <p:spPr>
          <a:xfrm>
            <a:off x="6217920" y="1527048"/>
            <a:ext cx="960120" cy="0"/>
          </a:xfrm>
          <a:prstGeom prst="line">
            <a:avLst/>
          </a:prstGeom>
          <a:noFill/>
          <a:ln w="22225">
            <a:solidFill>
              <a:srgbClr val="4F6D7A"/>
            </a:solidFill>
            <a:prstDash val="solid"/>
            <a:tailEnd type="triangle"/>
          </a:ln>
        </p:spPr>
      </p:sp>
      <p:sp>
        <p:nvSpPr>
          <p:cNvPr id="15" name="Chain 3 circle"/>
          <p:cNvSpPr/>
          <p:nvPr/>
        </p:nvSpPr>
        <p:spPr>
          <a:xfrm>
            <a:off x="7452360" y="1143000"/>
            <a:ext cx="777240" cy="7772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6" name="Chai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8898" y="1329538"/>
            <a:ext cx="404165" cy="404165"/>
          </a:xfrm>
          <a:prstGeom prst="rect">
            <a:avLst/>
          </a:prstGeom>
        </p:spPr>
      </p:pic>
      <p:sp>
        <p:nvSpPr>
          <p:cNvPr id="17" name="Chain 3 t"/>
          <p:cNvSpPr txBox="1"/>
          <p:nvPr/>
        </p:nvSpPr>
        <p:spPr>
          <a:xfrm>
            <a:off x="6903720" y="2011680"/>
            <a:ext cx="18745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Grafana</a:t>
            </a:r>
            <a:endParaRPr lang="en-US" sz="1500" dirty="0"/>
          </a:p>
          <a:p>
            <a:pPr algn="ctr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StockRoom API dashboard</a:t>
            </a:r>
            <a:endParaRPr lang="en-US" sz="1500" dirty="0"/>
          </a:p>
        </p:txBody>
      </p:sp>
      <p:sp>
        <p:nvSpPr>
          <p:cNvPr id="18" name="Panels head"/>
          <p:cNvSpPr txBox="1"/>
          <p:nvPr/>
        </p:nvSpPr>
        <p:spPr>
          <a:xfrm>
            <a:off x="457200" y="29260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Dashboard panels — loaded automatically, no manual import</a:t>
            </a:r>
            <a:endParaRPr lang="en-US" sz="1400" dirty="0"/>
          </a:p>
        </p:txBody>
      </p:sp>
      <p:sp>
        <p:nvSpPr>
          <p:cNvPr id="19" name="Panel 0"/>
          <p:cNvSpPr/>
          <p:nvPr/>
        </p:nvSpPr>
        <p:spPr>
          <a:xfrm>
            <a:off x="457200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20" name="Panel 0 t"/>
          <p:cNvSpPr txBox="1"/>
          <p:nvPr/>
        </p:nvSpPr>
        <p:spPr>
          <a:xfrm>
            <a:off x="548640" y="33375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Requests / s by route</a:t>
            </a:r>
            <a:endParaRPr lang="en-US" sz="1300" dirty="0"/>
          </a:p>
        </p:txBody>
      </p:sp>
      <p:sp>
        <p:nvSpPr>
          <p:cNvPr id="21" name="Panel 1"/>
          <p:cNvSpPr/>
          <p:nvPr/>
        </p:nvSpPr>
        <p:spPr>
          <a:xfrm>
            <a:off x="2121408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22" name="Panel 1 t"/>
          <p:cNvSpPr txBox="1"/>
          <p:nvPr/>
        </p:nvSpPr>
        <p:spPr>
          <a:xfrm>
            <a:off x="2212848" y="33375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p95 latency</a:t>
            </a:r>
            <a:endParaRPr lang="en-US" sz="1300" dirty="0"/>
          </a:p>
        </p:txBody>
      </p:sp>
      <p:sp>
        <p:nvSpPr>
          <p:cNvPr id="23" name="Panel 2"/>
          <p:cNvSpPr/>
          <p:nvPr/>
        </p:nvSpPr>
        <p:spPr>
          <a:xfrm>
            <a:off x="3785616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24" name="Panel 2 t"/>
          <p:cNvSpPr txBox="1"/>
          <p:nvPr/>
        </p:nvSpPr>
        <p:spPr>
          <a:xfrm>
            <a:off x="3877056" y="33375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5xx error rate</a:t>
            </a:r>
            <a:endParaRPr lang="en-US" sz="1300" dirty="0"/>
          </a:p>
        </p:txBody>
      </p:sp>
      <p:sp>
        <p:nvSpPr>
          <p:cNvPr id="25" name="Panel 3"/>
          <p:cNvSpPr/>
          <p:nvPr/>
        </p:nvSpPr>
        <p:spPr>
          <a:xfrm>
            <a:off x="5449824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26" name="Panel 3 t"/>
          <p:cNvSpPr txBox="1"/>
          <p:nvPr/>
        </p:nvSpPr>
        <p:spPr>
          <a:xfrm>
            <a:off x="5541264" y="33375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Backend Pods up</a:t>
            </a:r>
            <a:endParaRPr lang="en-US" sz="1300" dirty="0"/>
          </a:p>
        </p:txBody>
      </p:sp>
      <p:sp>
        <p:nvSpPr>
          <p:cNvPr id="27" name="Panel 4"/>
          <p:cNvSpPr/>
          <p:nvPr/>
        </p:nvSpPr>
        <p:spPr>
          <a:xfrm>
            <a:off x="7114032" y="3337560"/>
            <a:ext cx="1536192" cy="868680"/>
          </a:xfrm>
          <a:prstGeom prst="roundRect">
            <a:avLst>
              <a:gd name="adj" fmla="val 8421"/>
            </a:avLst>
          </a:prstGeom>
          <a:solidFill>
            <a:srgbClr val="EEF1F3"/>
          </a:solidFill>
          <a:ln/>
        </p:spPr>
      </p:sp>
      <p:sp>
        <p:nvSpPr>
          <p:cNvPr id="28" name="Panel 4 t"/>
          <p:cNvSpPr txBox="1"/>
          <p:nvPr/>
        </p:nvSpPr>
        <p:spPr>
          <a:xfrm>
            <a:off x="7205472" y="3337560"/>
            <a:ext cx="13533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CPU per Pod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4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bg1"/>
                </a:solidFill>
              </a:rPr>
              <a:t>Key learnings</a:t>
            </a:r>
            <a:endParaRPr lang="en-US" sz="3000" dirty="0"/>
          </a:p>
        </p:txBody>
      </p:sp>
      <p:sp>
        <p:nvSpPr>
          <p:cNvPr id="3" name="Learn 0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3A4A54"/>
          </a:solidFill>
          <a:ln/>
        </p:spPr>
      </p:sp>
      <p:sp>
        <p:nvSpPr>
          <p:cNvPr id="4" name="Learn 0 circle"/>
          <p:cNvSpPr/>
          <p:nvPr/>
        </p:nvSpPr>
        <p:spPr>
          <a:xfrm>
            <a:off x="685800" y="13716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5" name="Learn 0 icon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7474" y="1503274"/>
            <a:ext cx="285293" cy="285293"/>
          </a:xfrm>
          <a:prstGeom prst="rect">
            <a:avLst/>
          </a:prstGeom>
        </p:spPr>
      </p:pic>
      <p:sp>
        <p:nvSpPr>
          <p:cNvPr id="6" name="Learn 0 t"/>
          <p:cNvSpPr txBox="1"/>
          <p:nvPr/>
        </p:nvSpPr>
        <p:spPr>
          <a:xfrm>
            <a:off x="1417320" y="13258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Gates catch problems early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Trivy blocked 63 fixable CVEs before a single image reached the registry.</a:t>
            </a:r>
            <a:endParaRPr lang="en-US" sz="1500" dirty="0"/>
          </a:p>
        </p:txBody>
      </p:sp>
      <p:sp>
        <p:nvSpPr>
          <p:cNvPr id="7" name="Learn 1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3A4A54"/>
          </a:solidFill>
          <a:ln/>
        </p:spPr>
      </p:sp>
      <p:sp>
        <p:nvSpPr>
          <p:cNvPr id="8" name="Learn 1 circle"/>
          <p:cNvSpPr/>
          <p:nvPr/>
        </p:nvSpPr>
        <p:spPr>
          <a:xfrm>
            <a:off x="4892040" y="137160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9" name="Learn 1 icon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3714" y="1503274"/>
            <a:ext cx="285293" cy="285293"/>
          </a:xfrm>
          <a:prstGeom prst="rect">
            <a:avLst/>
          </a:prstGeom>
        </p:spPr>
      </p:pic>
      <p:sp>
        <p:nvSpPr>
          <p:cNvPr id="10" name="Learn 1 t"/>
          <p:cNvSpPr txBox="1"/>
          <p:nvPr/>
        </p:nvSpPr>
        <p:spPr>
          <a:xfrm>
            <a:off x="5623560" y="132588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Test the failure, not only the fix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Two Pods racing on the migration crashed one in 5 of 5 runs. An advisory lock: 0 of 5.</a:t>
            </a:r>
            <a:endParaRPr lang="en-US" sz="1500" dirty="0"/>
          </a:p>
        </p:txBody>
      </p:sp>
      <p:sp>
        <p:nvSpPr>
          <p:cNvPr id="11" name="Learn 2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3A4A54"/>
          </a:solidFill>
          <a:ln/>
        </p:spPr>
      </p:sp>
      <p:sp>
        <p:nvSpPr>
          <p:cNvPr id="12" name="Learn 2 circle"/>
          <p:cNvSpPr/>
          <p:nvPr/>
        </p:nvSpPr>
        <p:spPr>
          <a:xfrm>
            <a:off x="685800" y="3063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3" name="Learn 2 icon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7474" y="3194914"/>
            <a:ext cx="285293" cy="285293"/>
          </a:xfrm>
          <a:prstGeom prst="rect">
            <a:avLst/>
          </a:prstGeom>
        </p:spPr>
      </p:pic>
      <p:sp>
        <p:nvSpPr>
          <p:cNvPr id="14" name="Learn 2 t"/>
          <p:cNvSpPr txBox="1"/>
          <p:nvPr/>
        </p:nvSpPr>
        <p:spPr>
          <a:xfrm>
            <a:off x="1417320" y="3017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SHA tags give traceability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Every running Pod points to one commit. Rollback is a one-line revert.</a:t>
            </a:r>
            <a:endParaRPr lang="en-US" sz="1500" dirty="0"/>
          </a:p>
        </p:txBody>
      </p:sp>
      <p:sp>
        <p:nvSpPr>
          <p:cNvPr id="15" name="Learn 3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4848"/>
            </a:avLst>
          </a:prstGeom>
          <a:solidFill>
            <a:srgbClr val="3A4A54"/>
          </a:solidFill>
          <a:ln/>
        </p:spPr>
      </p:sp>
      <p:sp>
        <p:nvSpPr>
          <p:cNvPr id="16" name="Learn 3 circle"/>
          <p:cNvSpPr/>
          <p:nvPr/>
        </p:nvSpPr>
        <p:spPr>
          <a:xfrm>
            <a:off x="4892040" y="3063240"/>
            <a:ext cx="548640" cy="548640"/>
          </a:xfrm>
          <a:prstGeom prst="ellipse">
            <a:avLst/>
          </a:prstGeom>
          <a:solidFill>
            <a:srgbClr val="F2A93B"/>
          </a:solidFill>
          <a:ln/>
        </p:spPr>
      </p:sp>
      <p:pic>
        <p:nvPicPr>
          <p:cNvPr id="17" name="Learn 3 icon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3714" y="3194914"/>
            <a:ext cx="285293" cy="285293"/>
          </a:xfrm>
          <a:prstGeom prst="rect">
            <a:avLst/>
          </a:prstGeom>
        </p:spPr>
      </p:pic>
      <p:sp>
        <p:nvSpPr>
          <p:cNvPr id="18" name="Learn 3 t"/>
          <p:cNvSpPr txBox="1"/>
          <p:nvPr/>
        </p:nvSpPr>
        <p:spPr>
          <a:xfrm>
            <a:off x="5623560" y="3017520"/>
            <a:ext cx="288036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bg1"/>
                </a:solidFill>
              </a:rPr>
              <a:t>Git is the source of truth</a:t>
            </a:r>
            <a:endParaRPr lang="en-US" sz="1500" dirty="0"/>
          </a:p>
          <a:p>
            <a:pPr indent="0" marL="0">
              <a:buNone/>
            </a:pPr>
            <a:r>
              <a:rPr lang="en-US" sz="1200" dirty="0">
                <a:solidFill>
                  <a:schemeClr val="bg2"/>
                </a:solidFill>
              </a:rPr>
              <a:t>With Argo CD, a push is the deployment. Cost is a design input too: EKS 1.36, not 1.31.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5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tockRoom">
  <a:themeElements>
    <a:clrScheme name="StockRoom">
      <a:dk1>
        <a:srgbClr val="1B2329"/>
      </a:dk1>
      <a:lt1>
        <a:srgbClr val="FFFFFF"/>
      </a:lt1>
      <a:dk2>
        <a:srgbClr val="3A4A54"/>
      </a:dk2>
      <a:lt2>
        <a:srgbClr val="EEF1F3"/>
      </a:lt2>
      <a:accent1>
        <a:srgbClr val="F2A93B"/>
      </a:accent1>
      <a:accent2>
        <a:srgbClr val="2F7D6D"/>
      </a:accent2>
      <a:accent3>
        <a:srgbClr val="C8553D"/>
      </a:accent3>
      <a:accent4>
        <a:srgbClr val="4F6D7A"/>
      </a:accent4>
      <a:accent5>
        <a:srgbClr val="8FA6B2"/>
      </a:accent5>
      <a:accent6>
        <a:srgbClr val="D9DEE2"/>
      </a:accent6>
      <a:hlink>
        <a:srgbClr val="2F7D6D"/>
      </a:hlink>
      <a:folHlink>
        <a:srgbClr val="4F6D7A"/>
      </a:folHlink>
    </a:clrScheme>
    <a:fontScheme name="StockRoom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StockRoom — DevOps Capstone</dc:title>
  <dc:subject>PptxGenJS Presentation</dc:subject>
  <dc:creator>Kartavya Panchal</dc:creator>
  <cp:lastModifiedBy>Kartavya Panchal</cp:lastModifiedBy>
  <cp:revision>1</cp:revision>
  <dcterms:created xsi:type="dcterms:W3CDTF">2026-10-16T14:35:42Z</dcterms:created>
  <dcterms:modified xsi:type="dcterms:W3CDTF">2026-10-16T14:35:42Z</dcterms:modified>
</cp:coreProperties>
</file>